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8" r:id="rId7"/>
    <p:sldId id="259" r:id="rId8"/>
    <p:sldId id="269" r:id="rId9"/>
    <p:sldId id="260" r:id="rId10"/>
    <p:sldId id="262" r:id="rId11"/>
    <p:sldId id="261" r:id="rId12"/>
    <p:sldId id="270" r:id="rId13"/>
    <p:sldId id="272" r:id="rId14"/>
    <p:sldId id="271" r:id="rId15"/>
    <p:sldId id="266" r:id="rId16"/>
    <p:sldId id="273" r:id="rId17"/>
    <p:sldId id="267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1725"/>
            <a:ext cx="9144000" cy="282575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>
                <a:sym typeface="+mn-ea"/>
              </a:rPr>
              <a:t>AI-Driven Crowd Monitoring in Indian Railways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 fontScale="90000"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US" altLang="en-IN" dirty="0">
                <a:sym typeface="+mn-ea"/>
              </a:rPr>
              <a:t>Anuj Bhardwaj</a:t>
            </a:r>
            <a:endParaRPr lang="en-IN" dirty="0"/>
          </a:p>
          <a:p>
            <a:r>
              <a:rPr lang="en-US" altLang="en-IN" dirty="0">
                <a:sym typeface="+mn-ea"/>
              </a:rPr>
              <a:t>2427030433</a:t>
            </a:r>
            <a:endParaRPr lang="en-IN" dirty="0"/>
          </a:p>
        </p:txBody>
      </p:sp>
      <p:sp>
        <p:nvSpPr>
          <p:cNvPr id="4" name="Subtitle 2"/>
          <p:cNvSpPr txBox="1"/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ym typeface="+mn-ea"/>
              </a:rPr>
              <a:t>Supervised By:</a:t>
            </a:r>
            <a:br>
              <a:rPr lang="en-IN" dirty="0">
                <a:sym typeface="+mn-ea"/>
              </a:rPr>
            </a:br>
            <a:r>
              <a:rPr lang="en-US" altLang="en-IN" dirty="0">
                <a:sym typeface="+mn-ea"/>
              </a:rPr>
              <a:t>Dr. Surbhi Sharma</a:t>
            </a:r>
            <a:endParaRPr lang="en-US" altLang="en-IN" dirty="0"/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  <a:endParaRPr lang="en-IN" sz="2800" b="1" dirty="0"/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375" y="133985"/>
            <a:ext cx="10766425" cy="1557020"/>
          </a:xfrm>
        </p:spPr>
        <p:txBody>
          <a:bodyPr/>
          <a:lstStyle/>
          <a:p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375" y="1545590"/>
            <a:ext cx="10515600" cy="47764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600" dirty="0">
                <a:latin typeface="Bahnschrift Light" panose="020B0502040204020203" charset="0"/>
                <a:cs typeface="Bahnschrift Light" panose="020B0502040204020203" charset="0"/>
              </a:rPr>
              <a:t>Railway platforms are highly dynamic public environments where thousands of passengers move continuously.</a:t>
            </a:r>
            <a:endParaRPr lang="en-US" altLang="en-US" sz="26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2600" dirty="0">
                <a:latin typeface="Bahnschrift Light" panose="020B0502040204020203" charset="0"/>
                <a:cs typeface="Bahnschrift Light" panose="020B0502040204020203" charset="0"/>
              </a:rPr>
              <a:t>Indian metro cities experience </a:t>
            </a:r>
            <a:r>
              <a:rPr lang="en-US" altLang="en-US" sz="2600" b="1" dirty="0">
                <a:latin typeface="Bahnschrift Light" panose="020B0502040204020203" charset="0"/>
                <a:cs typeface="Bahnschrift Light" panose="020B0502040204020203" charset="0"/>
              </a:rPr>
              <a:t>unpredictable crowd surges</a:t>
            </a:r>
            <a:r>
              <a:rPr lang="en-US" altLang="en-US" sz="2600" dirty="0">
                <a:latin typeface="Bahnschrift Light" panose="020B0502040204020203" charset="0"/>
                <a:cs typeface="Bahnschrift Light" panose="020B0502040204020203" charset="0"/>
              </a:rPr>
              <a:t> due to:</a:t>
            </a:r>
            <a:endParaRPr lang="en-US" altLang="en-US" sz="26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1800" dirty="0">
                <a:latin typeface="Bahnschrift Light" panose="020B0502040204020203" charset="0"/>
                <a:cs typeface="Bahnschrift Light" panose="020B0502040204020203" charset="0"/>
              </a:rPr>
              <a:t>Peak-hour office commute</a:t>
            </a:r>
            <a:endParaRPr lang="en-US" altLang="en-US" sz="18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1800" dirty="0">
                <a:latin typeface="Bahnschrift Light" panose="020B0502040204020203" charset="0"/>
                <a:cs typeface="Bahnschrift Light" panose="020B0502040204020203" charset="0"/>
              </a:rPr>
              <a:t>Train delays and rescheduling</a:t>
            </a:r>
            <a:endParaRPr lang="en-US" altLang="en-US" sz="18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1800" dirty="0">
                <a:latin typeface="Bahnschrift Light" panose="020B0502040204020203" charset="0"/>
                <a:cs typeface="Bahnschrift Light" panose="020B0502040204020203" charset="0"/>
              </a:rPr>
              <a:t>Festival rush</a:t>
            </a:r>
            <a:endParaRPr lang="en-US" altLang="en-US" sz="18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1800" dirty="0">
                <a:latin typeface="Bahnschrift Light" panose="020B0502040204020203" charset="0"/>
                <a:cs typeface="Bahnschrift Light" panose="020B0502040204020203" charset="0"/>
              </a:rPr>
              <a:t>Platform reassignments</a:t>
            </a:r>
            <a:endParaRPr lang="en-US" altLang="en-US" sz="18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1800" dirty="0">
                <a:latin typeface="Bahnschrift Light" panose="020B0502040204020203" charset="0"/>
                <a:cs typeface="Bahnschrift Light" panose="020B0502040204020203" charset="0"/>
              </a:rPr>
              <a:t>Emergency disturbances</a:t>
            </a:r>
            <a:endParaRPr lang="en-US" altLang="en-US" sz="18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endParaRPr lang="en-US" altLang="en-US" sz="26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2600" dirty="0">
                <a:latin typeface="Bahnschrift Light" panose="020B0502040204020203" charset="0"/>
                <a:cs typeface="Bahnschrift Light" panose="020B0502040204020203" charset="0"/>
              </a:rPr>
              <a:t>These rapid density fluctuations create safety and operational challenges.</a:t>
            </a:r>
            <a:endParaRPr lang="en-US" altLang="en-US" sz="26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005" y="356235"/>
            <a:ext cx="10678795" cy="1334770"/>
          </a:xfrm>
        </p:spPr>
        <p:txBody>
          <a:bodyPr/>
          <a:p>
            <a:r>
              <a:rPr lang="en-US"/>
              <a:t>Need for Artificial Intelligence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060" y="1603375"/>
            <a:ext cx="10746740" cy="4573905"/>
          </a:xfrm>
        </p:spPr>
        <p:txBody>
          <a:bodyPr>
            <a:normAutofit fontScale="25000"/>
          </a:bodyPr>
          <a:p>
            <a:pPr marL="0" indent="0" algn="just">
              <a:buNone/>
            </a:pPr>
            <a:r>
              <a:rPr lang="en-US" altLang="en-US" sz="9600" b="1">
                <a:latin typeface="Bahnschrift Light" panose="020B0502040204020203" charset="0"/>
                <a:cs typeface="Bahnschrift Light" panose="020B0502040204020203" charset="0"/>
              </a:rPr>
              <a:t>Traditional CCTV systems rely on manual monitoring, which suffers from:</a:t>
            </a:r>
            <a:endParaRPr lang="en-US" altLang="en-US" sz="9600" b="1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Human fatigue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Reduced attention after prolonged monitoring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No automated crowd counting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Delayed intervention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9600" b="1">
                <a:latin typeface="Bahnschrift Light" panose="020B0502040204020203" charset="0"/>
                <a:cs typeface="Bahnschrift Light" panose="020B0502040204020203" charset="0"/>
              </a:rPr>
              <a:t>Crowd monitoring requires: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Real-time person detection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Accurate counting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Density estimation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Congestion classification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7200">
                <a:latin typeface="Bahnschrift Light" panose="020B0502040204020203" charset="0"/>
                <a:cs typeface="Bahnschrift Light" panose="020B0502040204020203" charset="0"/>
              </a:rPr>
              <a:t>Continuous visualization</a:t>
            </a:r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720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Hence, an AI-driven automated solution is essential.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40"/>
            <a:ext cx="10515600" cy="1624965"/>
          </a:xfrm>
        </p:spPr>
        <p:txBody>
          <a:bodyPr/>
          <a:lstStyle/>
          <a:p>
            <a:r>
              <a:rPr lang="en-IN" dirty="0"/>
              <a:t>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550"/>
            <a:ext cx="10515600" cy="469773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400" b="1" dirty="0">
                <a:latin typeface="Bahnschrift Light" panose="020B0502040204020203" charset="0"/>
                <a:cs typeface="Bahnschrift Light" panose="020B0502040204020203" charset="0"/>
              </a:rPr>
              <a:t>Major findings from research are:</a:t>
            </a:r>
            <a:endParaRPr lang="en-US" altLang="en-US" sz="2400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endParaRPr lang="en-US" altLang="en-US" sz="2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 dirty="0">
                <a:latin typeface="Bahnschrift Light" panose="020B0502040204020203" charset="0"/>
                <a:cs typeface="Bahnschrift Light" panose="020B0502040204020203" charset="0"/>
              </a:rPr>
              <a:t>Manual monitoring is inadequate for dense environments (Saleh et al., 2015)</a:t>
            </a:r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 dirty="0">
                <a:latin typeface="Bahnschrift Light" panose="020B0502040204020203" charset="0"/>
                <a:cs typeface="Bahnschrift Light" panose="020B0502040204020203" charset="0"/>
              </a:rPr>
              <a:t>CNN-based crowd counting improves accuracy (Sindagi &amp; Patel, 2018)</a:t>
            </a:r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 dirty="0">
                <a:latin typeface="Bahnschrift Light" panose="020B0502040204020203" charset="0"/>
                <a:cs typeface="Bahnschrift Light" panose="020B0502040204020203" charset="0"/>
              </a:rPr>
              <a:t>Privacy-preserving global models lack localization (Chan et al., 2008)</a:t>
            </a:r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 dirty="0">
                <a:latin typeface="Bahnschrift Light" panose="020B0502040204020203" charset="0"/>
                <a:cs typeface="Bahnschrift Light" panose="020B0502040204020203" charset="0"/>
              </a:rPr>
              <a:t>Metro platform-specific counting explored (Zhang et al., 2021)</a:t>
            </a:r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 dirty="0">
                <a:latin typeface="Bahnschrift Light" panose="020B0502040204020203" charset="0"/>
                <a:cs typeface="Bahnschrift Light" panose="020B0502040204020203" charset="0"/>
              </a:rPr>
              <a:t>Dense crowd challenges identified (Gao et al., 2020)</a:t>
            </a:r>
            <a:endParaRPr lang="en-US" altLang="en-US" sz="23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Review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 marL="0" indent="0" algn="just">
              <a:buNone/>
            </a:pPr>
            <a:r>
              <a:rPr lang="en-US" altLang="en-US" sz="12800" b="1">
                <a:latin typeface="Bahnschrift Light" panose="020B0502040204020203" charset="0"/>
                <a:cs typeface="Bahnschrift Light" panose="020B0502040204020203" charset="0"/>
              </a:rPr>
              <a:t>Further advancements:</a:t>
            </a:r>
            <a:endParaRPr lang="en-US" altLang="en-US" sz="128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Multi-feature counting methods (Ryan et al., 2009)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DeepSORT for object tracking (Wojke et al., 2017)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Advanced CNN architectures (Fan et al., 2022)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12800" b="1">
                <a:latin typeface="Bahnschrift Light" panose="020B0502040204020203" charset="0"/>
                <a:cs typeface="Bahnschrift Light" panose="020B0502040204020203" charset="0"/>
              </a:rPr>
              <a:t>Literature indicates need for:</a:t>
            </a:r>
            <a:endParaRPr lang="en-US" altLang="en-US" sz="128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High detection accuracy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Real-time processing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Robust performance in occlusion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9600">
                <a:latin typeface="Bahnschrift Light" panose="020B0502040204020203" charset="0"/>
                <a:cs typeface="Bahnschrift Light" panose="020B0502040204020203" charset="0"/>
              </a:rPr>
              <a:t>Scalable architecture</a:t>
            </a:r>
            <a:endParaRPr lang="en-US" altLang="en-US" sz="960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US" b="1" dirty="0">
                <a:latin typeface="Bahnschrift Light" panose="020B0502040204020203" charset="0"/>
                <a:cs typeface="Bahnschrift Light" panose="020B0502040204020203" charset="0"/>
              </a:rPr>
              <a:t>Railway platforms lack an automated, real-time AI-based system for accurate person detection and crowd density classification, leading to delayed intervention and increased safety risks during sudden overcrowding conditions.</a:t>
            </a:r>
            <a:endParaRPr lang="en-US" altLang="en-US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algn="just"/>
            <a:r>
              <a:rPr lang="en-US" altLang="en-US" dirty="0">
                <a:latin typeface="Bahnschrift Light" panose="020B0502040204020203" charset="0"/>
                <a:cs typeface="Bahnschrift Light" panose="020B0502040204020203" charset="0"/>
              </a:rPr>
              <a:t>Develop a YOLOv9-based real-time crowd monitoring system.</a:t>
            </a:r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dirty="0">
                <a:latin typeface="Bahnschrift Light" panose="020B0502040204020203" charset="0"/>
                <a:cs typeface="Bahnschrift Light" panose="020B0502040204020203" charset="0"/>
              </a:rPr>
              <a:t>Detect and count individuals accurately in railway environments.</a:t>
            </a:r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dirty="0">
                <a:latin typeface="Bahnschrift Light" panose="020B0502040204020203" charset="0"/>
                <a:cs typeface="Bahnschrift Light" panose="020B0502040204020203" charset="0"/>
              </a:rPr>
              <a:t>Classify crowd density using threshold logic.</a:t>
            </a:r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dirty="0">
                <a:latin typeface="Bahnschrift Light" panose="020B0502040204020203" charset="0"/>
                <a:cs typeface="Bahnschrift Light" panose="020B0502040204020203" charset="0"/>
              </a:rPr>
              <a:t>Provide real-time visualization for decision support.</a:t>
            </a:r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dirty="0">
                <a:latin typeface="Bahnschrift Light" panose="020B0502040204020203" charset="0"/>
                <a:cs typeface="Bahnschrift Light" panose="020B0502040204020203" charset="0"/>
              </a:rPr>
              <a:t>Design scalable monitoring architecture.</a:t>
            </a:r>
            <a:endParaRPr lang="en-US" altLang="en-US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210" y="-318770"/>
            <a:ext cx="10689590" cy="2009775"/>
          </a:xfrm>
        </p:spPr>
        <p:txBody>
          <a:bodyPr/>
          <a:lstStyle/>
          <a:p>
            <a:r>
              <a:rPr lang="en-IN" dirty="0"/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8405"/>
            <a:ext cx="10515600" cy="496887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9600" b="1" dirty="0">
                <a:latin typeface="Bahnschrift Light" panose="020B0502040204020203" charset="0"/>
                <a:cs typeface="Bahnschrift Light" panose="020B0502040204020203" charset="0"/>
              </a:rPr>
              <a:t>Data Collection:</a:t>
            </a:r>
            <a:endParaRPr lang="en-US" altLang="en-US" sz="96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Real railway platform video footage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Peak and off-peak scenarios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Train arrival and dispersal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Multiple lighting conditions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Different camera perspectives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>
              <a:buNone/>
            </a:pPr>
            <a:r>
              <a:rPr lang="en-US" altLang="en-US" sz="9600" b="1" dirty="0">
                <a:latin typeface="Bahnschrift Light" panose="020B0502040204020203" charset="0"/>
                <a:cs typeface="Bahnschrift Light" panose="020B0502040204020203" charset="0"/>
              </a:rPr>
              <a:t>Preprocessing:</a:t>
            </a:r>
            <a:endParaRPr lang="en-US" altLang="en-US" sz="9600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Standardized to 720p, 30 FPS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Noise reduction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Contrast normalization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Frame stabilization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MP4 format processing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Ensures consistent and clean model input.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1614805"/>
          </a:xfrm>
        </p:spPr>
        <p:txBody>
          <a:bodyPr/>
          <a:lstStyle/>
          <a:p>
            <a:r>
              <a:rPr lang="en-IN" dirty="0"/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641215"/>
          </a:xfrm>
        </p:spPr>
        <p:txBody>
          <a:bodyPr>
            <a:normAutofit fontScale="25000"/>
          </a:bodyPr>
          <a:lstStyle/>
          <a:p>
            <a:pPr marL="0" indent="0" algn="just">
              <a:buNone/>
            </a:pPr>
            <a:r>
              <a:rPr lang="en-US" altLang="en-US" sz="9600" b="1" dirty="0">
                <a:latin typeface="Bahnschrift Light" panose="020B0502040204020203" charset="0"/>
                <a:cs typeface="Bahnschrift Light" panose="020B0502040204020203" charset="0"/>
              </a:rPr>
              <a:t>Model Configuration: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Detect class: Person (ID 0)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Confidence threshold: 0.5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NMS: 0.45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Input size: 640×640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9600" b="1" dirty="0">
                <a:latin typeface="Bahnschrift Light" panose="020B0502040204020203" charset="0"/>
                <a:cs typeface="Bahnschrift Light" panose="020B0502040204020203" charset="0"/>
              </a:rPr>
              <a:t>Performance Observed: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Detection Accuracy &gt;95%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Real-time speed: 25–30 FPS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Stable inference under occlusion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Low latency frame processing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1614805"/>
          </a:xfrm>
        </p:spPr>
        <p:txBody>
          <a:bodyPr/>
          <a:lstStyle/>
          <a:p>
            <a:r>
              <a:rPr lang="en-IN" dirty="0"/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641215"/>
          </a:xfrm>
        </p:spPr>
        <p:txBody>
          <a:bodyPr>
            <a:normAutofit fontScale="35000"/>
          </a:bodyPr>
          <a:lstStyle/>
          <a:p>
            <a:pPr marL="0" indent="0" algn="just">
              <a:buNone/>
            </a:pPr>
            <a:r>
              <a:rPr lang="en-US" altLang="en-US" sz="8000" b="1" dirty="0">
                <a:latin typeface="Bahnschrift Light" panose="020B0502040204020203" charset="0"/>
                <a:cs typeface="Bahnschrift Light" panose="020B0502040204020203" charset="0"/>
              </a:rPr>
              <a:t>Let N = number of detected persons per frame</a:t>
            </a:r>
            <a:endParaRPr lang="en-US" altLang="en-US" sz="8000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9600" b="1" dirty="0">
                <a:latin typeface="Bahnschrift Light" panose="020B0502040204020203" charset="0"/>
                <a:cs typeface="Bahnschrift Light" panose="020B0502040204020203" charset="0"/>
              </a:rPr>
              <a:t>Threshold-based classification: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N &lt; Lower threshold → Undercrowded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Safe range → Moderate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N &gt; Upper threshold → Overcrowded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6855" b="1" dirty="0">
                <a:latin typeface="Bahnschrift Light" panose="020B0502040204020203" charset="0"/>
                <a:cs typeface="Bahnschrift Light" panose="020B0502040204020203" charset="0"/>
              </a:rPr>
              <a:t>Threshold estimation based on:</a:t>
            </a:r>
            <a:endParaRPr lang="en-US" altLang="en-US" sz="6855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Camera coverage area (~45 m²)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Safe passenger density (~4 persons/m²)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6400" dirty="0">
                <a:latin typeface="Bahnschrift Light" panose="020B0502040204020203" charset="0"/>
                <a:cs typeface="Bahnschrift Light" panose="020B0502040204020203" charset="0"/>
              </a:rPr>
              <a:t>Enables automated congestion identification.</a:t>
            </a: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10515600" cy="1614805"/>
          </a:xfrm>
        </p:spPr>
        <p:txBody>
          <a:bodyPr/>
          <a:lstStyle/>
          <a:p>
            <a:r>
              <a:rPr lang="en-IN" dirty="0"/>
              <a:t>Proposed 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641215"/>
          </a:xfrm>
        </p:spPr>
        <p:txBody>
          <a:bodyPr>
            <a:normAutofit fontScale="30000"/>
          </a:bodyPr>
          <a:lstStyle/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Real-time crowd count tracking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Line graph representation of density over time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Spike detection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8000" dirty="0">
                <a:latin typeface="Bahnschrift Light" panose="020B0502040204020203" charset="0"/>
                <a:cs typeface="Bahnschrift Light" panose="020B0502040204020203" charset="0"/>
              </a:rPr>
              <a:t>Continuous monitoring</a:t>
            </a:r>
            <a:endParaRPr lang="en-US" altLang="en-US" sz="80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endParaRPr lang="en-US" altLang="en-US" sz="6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9335" b="1" dirty="0">
                <a:latin typeface="Bahnschrift Light" panose="020B0502040204020203" charset="0"/>
                <a:cs typeface="Bahnschrift Light" panose="020B0502040204020203" charset="0"/>
              </a:rPr>
              <a:t>Visualization supports rapid situational awareness and timely decision making.</a:t>
            </a:r>
            <a:endParaRPr lang="en-US" altLang="en-US" sz="9335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  <a:r>
              <a:rPr lang="en-US" altLang="en-IN" dirty="0"/>
              <a:t>s (</a:t>
            </a:r>
            <a:r>
              <a:rPr lang="en-US" altLang="en-US" dirty="0"/>
              <a:t>Quantitative Evaluation)</a:t>
            </a:r>
            <a:r>
              <a:rPr lang="en-IN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836930" y="1611630"/>
          <a:ext cx="10586720" cy="4592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3360"/>
                <a:gridCol w="5293360"/>
              </a:tblGrid>
              <a:tr h="7867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4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Metric</a:t>
                      </a:r>
                      <a:endParaRPr lang="en-US" sz="4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Observed Performance</a:t>
                      </a:r>
                      <a:endParaRPr lang="en-US" sz="36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Detection Accuracy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&gt;95%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Frame Rate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25-30FPS</a:t>
                      </a:r>
                      <a:endParaRPr 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  <a:tr h="760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Real-Time Processing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Continuous</a:t>
                      </a:r>
                      <a:endParaRPr 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Density Classification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Accurate</a:t>
                      </a:r>
                      <a:endParaRPr 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  <a:tr h="761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Stability</a:t>
                      </a:r>
                      <a:endParaRPr lang="en-US" alt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latin typeface="Bahnschrift Light" panose="020B0502040204020203" charset="0"/>
                          <a:cs typeface="Bahnschrift Light" panose="020B0502040204020203" charset="0"/>
                        </a:rPr>
                        <a:t>Maintained under varying conditions</a:t>
                      </a:r>
                      <a:endParaRPr lang="en-US" sz="2400">
                        <a:latin typeface="Bahnschrift Light" panose="020B0502040204020203" charset="0"/>
                        <a:cs typeface="Bahnschrift Light" panose="020B05020402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Results (Analytical Evaluation)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algn="just"/>
            <a:r>
              <a:rPr lang="en-US" altLang="en-US" sz="2300">
                <a:latin typeface="Bahnschrift Light" panose="020B0502040204020203" charset="0"/>
                <a:cs typeface="Bahnschrift Light" panose="020B0502040204020203" charset="0"/>
              </a:rPr>
              <a:t>Accurate detection in sparse and dense scenarios</a:t>
            </a:r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>
                <a:latin typeface="Bahnschrift Light" panose="020B0502040204020203" charset="0"/>
                <a:cs typeface="Bahnschrift Light" panose="020B0502040204020203" charset="0"/>
              </a:rPr>
              <a:t>Reliable performance under different lighting</a:t>
            </a:r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>
                <a:latin typeface="Bahnschrift Light" panose="020B0502040204020203" charset="0"/>
                <a:cs typeface="Bahnschrift Light" panose="020B0502040204020203" charset="0"/>
              </a:rPr>
              <a:t>Effective detection of sudden crowd surges</a:t>
            </a:r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>
                <a:latin typeface="Bahnschrift Light" panose="020B0502040204020203" charset="0"/>
                <a:cs typeface="Bahnschrift Light" panose="020B0502040204020203" charset="0"/>
              </a:rPr>
              <a:t>Stable real-time visualization</a:t>
            </a:r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r>
              <a:rPr lang="en-US" altLang="en-US" sz="2300">
                <a:latin typeface="Bahnschrift Light" panose="020B0502040204020203" charset="0"/>
                <a:cs typeface="Bahnschrift Light" panose="020B0502040204020203" charset="0"/>
              </a:rPr>
              <a:t>Suitable for railway safety monitoring</a:t>
            </a:r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algn="just"/>
            <a:endParaRPr lang="en-US" altLang="en-US" sz="230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just">
              <a:buNone/>
            </a:pPr>
            <a:r>
              <a:rPr lang="en-US" altLang="en-US" sz="3600" b="1">
                <a:latin typeface="Bahnschrift Light" panose="020B0502040204020203" charset="0"/>
                <a:cs typeface="Bahnschrift Light" panose="020B0502040204020203" charset="0"/>
              </a:rPr>
              <a:t>Prototype-level validation confirms system reliability.</a:t>
            </a:r>
            <a:endParaRPr lang="en-US" altLang="en-US" sz="3600" b="1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 Paper is drafted and submitted in Conference.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is yet to be published.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390" y="-354330"/>
            <a:ext cx="10900410" cy="2045335"/>
          </a:xfrm>
        </p:spPr>
        <p:txBody>
          <a:bodyPr/>
          <a:lstStyle/>
          <a:p>
            <a:r>
              <a:rPr lang="en-IN" dirty="0"/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90" y="1036320"/>
            <a:ext cx="10900410" cy="5140960"/>
          </a:xfrm>
        </p:spPr>
        <p:txBody>
          <a:bodyPr>
            <a:noAutofit/>
          </a:bodyPr>
          <a:lstStyle/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S. A. M. Saleh, S. A. Suandi, and H. Ibrahim, “Recent survey on crowd density estimation and counting for visual surveillance,” Engineering Applications of Artificial Intelligence, vol. 41, pp. 103–114, 2015.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V. A. Sindagi and V. M. Patel, “A survey of recent advances in CNN-based single image crowd counting and density estimation,” Pattern Recognition Letters, vol. 107, pp. 3–16, 2018.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D. Ryan, S. Denman, C. Fookes, and S. Sridharan, “Crowd counting using multiple local features,” in Digital Image Computing: Techniques and Applications (DICTA), 2009, pp. 81–88.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A. B. Chan, Z. S. J. Liang, and N. Vasconcelos, “Privacy preserving crowd monitoring: Counting people without people models or tracking,” in IEEE Conference on Computer Vision and Pattern Recognition (CVPR), 2008, pp. 1–7.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J. Zhang, J. Liu, and Z. Wang, “Convolutional neural network for crowd counting on metro platforms,” Symmetry, vol. 13, no. 4, p. 703, 2021.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H. Hassen, T. Sayed, M. Zaki, and K. Ismail, “Real-time crowd analysis using CNN and heuristic techniques: A comprehensive review,” Neurocomputing, vol. 472, pp. 224–251, 2022.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G. Gao, J. Gao, Q. Liu, Q. Liu, Q. Wang, and Y. Wang, “Deep people counting in extremely dense crowds,” in ACM Multimedia, 2020.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Y. Zhao et al., “Deep learning-based object detection methods: A review,” IEEE Access, vol. 7, pp. 128837–128868, 2019.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N. Wojke, A. Bewley, and D. Paulus, “Simple online and realtime tracking with a deep association metric,” in IEEE International Conference on Image Processing (ICIP), 2017.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Z. Fan, H. Zhang, Z. Zhang, G. Lu, Y. Zhang, and Y. Wang, “A survey of crowd counting and density estimation based on convolutional neural networks,” Neurocomputing, vol. 472, pp. 224–251, 2022.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V. Rabaud and S. Belongie, “Counting crowded moving objects,” in IEEE Conference on Computer Vision and Pattern Recognition (CVPR), 2006, pp. 705–711.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  <a:p>
            <a:r>
              <a:rPr lang="en-US" altLang="en-US" sz="1400" dirty="0">
                <a:latin typeface="Bahnschrift Light" panose="020B0502040204020203" charset="0"/>
                <a:cs typeface="Bahnschrift Light" panose="020B0502040204020203" charset="0"/>
              </a:rPr>
              <a:t>N. S. Punn and S. Agarwal, “Crowd analysis for congestion control early warning system on foot-over bridges,” in International Conference on Contemporary Computing (IC3), 2019.</a:t>
            </a:r>
            <a:endParaRPr lang="en-US" altLang="en-US" sz="14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3*361"/>
  <p:tag name="TABLE_ENDDRAG_RECT" val="65*126*833*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6011</Words>
  <Application>WPS Presentation</Application>
  <PresentationFormat>Widescreen</PresentationFormat>
  <Paragraphs>205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Bahnschrift Light</vt:lpstr>
      <vt:lpstr>Aptos Display</vt:lpstr>
      <vt:lpstr>Segoe UI</vt:lpstr>
      <vt:lpstr>Aptos</vt:lpstr>
      <vt:lpstr>Microsoft YaHei</vt:lpstr>
      <vt:lpstr>Arial Unicode MS</vt:lpstr>
      <vt:lpstr>Calibri</vt:lpstr>
      <vt:lpstr>Office Theme</vt:lpstr>
      <vt:lpstr>1_Office Theme</vt:lpstr>
      <vt:lpstr>&lt;Project Title&gt;</vt:lpstr>
      <vt:lpstr>Outline</vt:lpstr>
      <vt:lpstr>Introduction</vt:lpstr>
      <vt:lpstr>Need for Artificial Intelligence</vt:lpstr>
      <vt:lpstr>Literature Review</vt:lpstr>
      <vt:lpstr>Literature Review</vt:lpstr>
      <vt:lpstr>Problem Statement</vt:lpstr>
      <vt:lpstr>Objectives</vt:lpstr>
      <vt:lpstr>Proposed Methodology</vt:lpstr>
      <vt:lpstr>Proposed Methodology</vt:lpstr>
      <vt:lpstr>Proposed Methodology</vt:lpstr>
      <vt:lpstr>Proposed Methodology</vt:lpstr>
      <vt:lpstr>Results (Quantitative Evaluation) </vt:lpstr>
      <vt:lpstr>Results (Analytical Evaluation)</vt:lpstr>
      <vt:lpstr>Outcome 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Anuj B</cp:lastModifiedBy>
  <cp:revision>10</cp:revision>
  <dcterms:created xsi:type="dcterms:W3CDTF">2025-09-29T05:03:00Z</dcterms:created>
  <dcterms:modified xsi:type="dcterms:W3CDTF">2026-02-13T12:17:27Z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10A9A1F1909849ECA3D29B10BD225848_13</vt:lpwstr>
  </property>
  <property fmtid="{D5CDD505-2E9C-101B-9397-08002B2CF9AE}" pid="3" name="KSOProductBuildVer">
    <vt:lpwstr>1033-12.2.0.23196</vt:lpwstr>
  </property>
</Properties>
</file>